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74" r:id="rId4"/>
    <p:sldId id="275" r:id="rId5"/>
    <p:sldId id="268" r:id="rId6"/>
    <p:sldId id="281" r:id="rId7"/>
    <p:sldId id="286" r:id="rId8"/>
    <p:sldId id="287" r:id="rId9"/>
    <p:sldId id="271" r:id="rId10"/>
    <p:sldId id="276" r:id="rId11"/>
    <p:sldId id="259" r:id="rId12"/>
    <p:sldId id="278" r:id="rId13"/>
    <p:sldId id="279" r:id="rId14"/>
    <p:sldId id="272" r:id="rId15"/>
    <p:sldId id="273" r:id="rId16"/>
    <p:sldId id="270" r:id="rId17"/>
    <p:sldId id="280" r:id="rId18"/>
    <p:sldId id="277" r:id="rId19"/>
    <p:sldId id="282" r:id="rId20"/>
    <p:sldId id="284" r:id="rId21"/>
    <p:sldId id="285" r:id="rId22"/>
    <p:sldId id="283" r:id="rId23"/>
    <p:sldId id="257" r:id="rId24"/>
    <p:sldId id="288" r:id="rId25"/>
    <p:sldId id="290" r:id="rId26"/>
    <p:sldId id="289" r:id="rId27"/>
    <p:sldId id="291" r:id="rId28"/>
    <p:sldId id="292" r:id="rId29"/>
    <p:sldId id="293" r:id="rId30"/>
    <p:sldId id="294" r:id="rId31"/>
    <p:sldId id="295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7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B2EF6-0BAB-49D1-9BD5-B7896C7161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3600" b="1" dirty="0">
                <a:effectLst/>
              </a:rPr>
              <a:t>MQTT</a:t>
            </a:r>
            <a:br>
              <a:rPr lang="pt-BR" sz="3600" b="1" dirty="0">
                <a:effectLst/>
              </a:rPr>
            </a:br>
            <a:r>
              <a:rPr lang="pt-BR" sz="2800" b="1" i="0" dirty="0" err="1">
                <a:effectLst/>
                <a:latin typeface="Google Sans"/>
              </a:rPr>
              <a:t>Message</a:t>
            </a:r>
            <a:r>
              <a:rPr lang="pt-BR" sz="2800" b="1" i="0" dirty="0">
                <a:effectLst/>
                <a:latin typeface="Google Sans"/>
              </a:rPr>
              <a:t> </a:t>
            </a:r>
            <a:r>
              <a:rPr lang="pt-BR" sz="2800" b="1" i="0" dirty="0" err="1">
                <a:effectLst/>
                <a:latin typeface="Google Sans"/>
              </a:rPr>
              <a:t>Queuing</a:t>
            </a:r>
            <a:r>
              <a:rPr lang="pt-BR" sz="2800" b="1" i="0" dirty="0">
                <a:effectLst/>
                <a:latin typeface="Google Sans"/>
              </a:rPr>
              <a:t> </a:t>
            </a:r>
            <a:r>
              <a:rPr lang="pt-BR" sz="2800" b="1" i="0" dirty="0" err="1">
                <a:effectLst/>
                <a:latin typeface="Google Sans"/>
              </a:rPr>
              <a:t>Telemetry</a:t>
            </a:r>
            <a:r>
              <a:rPr lang="pt-BR" sz="2800" b="1" i="0" dirty="0">
                <a:effectLst/>
                <a:latin typeface="Google Sans"/>
              </a:rPr>
              <a:t> </a:t>
            </a:r>
            <a:r>
              <a:rPr lang="pt-BR" sz="2800" b="1" i="0" dirty="0" err="1">
                <a:effectLst/>
                <a:latin typeface="Google Sans"/>
              </a:rPr>
              <a:t>Transport</a:t>
            </a:r>
            <a:endParaRPr lang="pt-BR" sz="36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E0C0B9-299B-4114-A08D-04188B7D59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79" y="3514272"/>
            <a:ext cx="8637072" cy="977621"/>
          </a:xfrm>
        </p:spPr>
        <p:txBody>
          <a:bodyPr/>
          <a:lstStyle/>
          <a:p>
            <a:r>
              <a:rPr lang="pt-BR" dirty="0"/>
              <a:t>Professor: Donathan Gonçalves</a:t>
            </a:r>
          </a:p>
        </p:txBody>
      </p:sp>
    </p:spTree>
    <p:extLst>
      <p:ext uri="{BB962C8B-B14F-4D97-AF65-F5344CB8AC3E}">
        <p14:creationId xmlns:p14="http://schemas.microsoft.com/office/powerpoint/2010/main" val="696068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3812" y="267128"/>
            <a:ext cx="9604375" cy="1049337"/>
          </a:xfrm>
        </p:spPr>
        <p:txBody>
          <a:bodyPr>
            <a:normAutofit/>
          </a:bodyPr>
          <a:lstStyle/>
          <a:p>
            <a:pPr algn="ctr" fontAlgn="base"/>
            <a:r>
              <a:rPr lang="pt-BR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Cenários </a:t>
            </a:r>
            <a:r>
              <a:rPr lang="pt-BR" i="0" dirty="0" err="1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packet</a:t>
            </a:r>
            <a:r>
              <a:rPr lang="pt-BR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i="0" dirty="0" err="1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tracer</a:t>
            </a:r>
            <a:endParaRPr lang="pt-BR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04323C3-6600-498E-B94D-BF324F196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206" y="818691"/>
            <a:ext cx="7155586" cy="530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387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3812" y="267128"/>
            <a:ext cx="9604375" cy="1049337"/>
          </a:xfrm>
        </p:spPr>
        <p:txBody>
          <a:bodyPr>
            <a:normAutofit/>
          </a:bodyPr>
          <a:lstStyle/>
          <a:p>
            <a:pPr algn="ctr" fontAlgn="base"/>
            <a:r>
              <a:rPr lang="pt-BR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Cenários </a:t>
            </a:r>
            <a:r>
              <a:rPr lang="pt-BR" i="0" dirty="0" err="1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packet</a:t>
            </a:r>
            <a:r>
              <a:rPr lang="pt-BR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i="0" dirty="0" err="1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tracer</a:t>
            </a:r>
            <a:endParaRPr lang="pt-BR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878FA24-CADE-438F-A334-2D63D6D6A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230" y="862550"/>
            <a:ext cx="10217540" cy="5728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6188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3812" y="267128"/>
            <a:ext cx="9604375" cy="1049337"/>
          </a:xfrm>
        </p:spPr>
        <p:txBody>
          <a:bodyPr>
            <a:normAutofit/>
          </a:bodyPr>
          <a:lstStyle/>
          <a:p>
            <a:pPr algn="ctr" fontAlgn="base"/>
            <a:r>
              <a:rPr lang="pt-BR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Cenários </a:t>
            </a:r>
            <a:r>
              <a:rPr lang="pt-BR" i="0" dirty="0" err="1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packet</a:t>
            </a:r>
            <a:r>
              <a:rPr lang="pt-BR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i="0" dirty="0" err="1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tracer</a:t>
            </a:r>
            <a:endParaRPr lang="pt-BR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DF4CED3-0AF2-46EF-9174-8E0BE0E1C4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6"/>
          <a:stretch/>
        </p:blipFill>
        <p:spPr bwMode="auto">
          <a:xfrm>
            <a:off x="-1" y="1379220"/>
            <a:ext cx="12192000" cy="4734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8679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fontAlgn="base"/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Protocolos conhecidos</a:t>
            </a:r>
            <a:endParaRPr lang="pt-BR" sz="1800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39B3F53-CDFC-4631-B2DB-4A73CDD6838D}"/>
              </a:ext>
            </a:extLst>
          </p:cNvPr>
          <p:cNvSpPr/>
          <p:nvPr/>
        </p:nvSpPr>
        <p:spPr>
          <a:xfrm>
            <a:off x="6400806" y="2415374"/>
            <a:ext cx="977153" cy="58270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TCP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AB577BE-9A7C-4981-A0FD-D7777E0FEA0C}"/>
              </a:ext>
            </a:extLst>
          </p:cNvPr>
          <p:cNvSpPr/>
          <p:nvPr/>
        </p:nvSpPr>
        <p:spPr>
          <a:xfrm>
            <a:off x="3801030" y="2415374"/>
            <a:ext cx="977153" cy="58270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HTTP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4C79659-3570-45BB-81D8-5B6D0F92EDEB}"/>
              </a:ext>
            </a:extLst>
          </p:cNvPr>
          <p:cNvSpPr/>
          <p:nvPr/>
        </p:nvSpPr>
        <p:spPr>
          <a:xfrm>
            <a:off x="3801030" y="3582016"/>
            <a:ext cx="977153" cy="58270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ICMP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71E56C6-A5F9-49EF-A28C-B2E3A8E7AB11}"/>
              </a:ext>
            </a:extLst>
          </p:cNvPr>
          <p:cNvSpPr/>
          <p:nvPr/>
        </p:nvSpPr>
        <p:spPr>
          <a:xfrm>
            <a:off x="5082988" y="2415374"/>
            <a:ext cx="977153" cy="58270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DNS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B5E8AADA-E76F-48D9-8D29-2D0254EFE51A}"/>
              </a:ext>
            </a:extLst>
          </p:cNvPr>
          <p:cNvSpPr/>
          <p:nvPr/>
        </p:nvSpPr>
        <p:spPr>
          <a:xfrm>
            <a:off x="5082987" y="3590368"/>
            <a:ext cx="977153" cy="58270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IP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A3C85EB-F86F-4158-A4D2-1960A5480083}"/>
              </a:ext>
            </a:extLst>
          </p:cNvPr>
          <p:cNvSpPr/>
          <p:nvPr/>
        </p:nvSpPr>
        <p:spPr>
          <a:xfrm>
            <a:off x="7718623" y="3590368"/>
            <a:ext cx="977153" cy="58270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MQTT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870D60B-457C-4EA2-A5B5-8DFD99E02CFD}"/>
              </a:ext>
            </a:extLst>
          </p:cNvPr>
          <p:cNvSpPr/>
          <p:nvPr/>
        </p:nvSpPr>
        <p:spPr>
          <a:xfrm>
            <a:off x="6400806" y="3582016"/>
            <a:ext cx="977153" cy="58270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NAT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BEF2012-6EA3-4302-81C4-B85E08E554F5}"/>
              </a:ext>
            </a:extLst>
          </p:cNvPr>
          <p:cNvSpPr/>
          <p:nvPr/>
        </p:nvSpPr>
        <p:spPr>
          <a:xfrm>
            <a:off x="7718624" y="2415374"/>
            <a:ext cx="977153" cy="58270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FTP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03D2E09-8AFE-4EB3-A0BF-32D14B9D4904}"/>
              </a:ext>
            </a:extLst>
          </p:cNvPr>
          <p:cNvSpPr/>
          <p:nvPr/>
        </p:nvSpPr>
        <p:spPr>
          <a:xfrm>
            <a:off x="3801030" y="4748658"/>
            <a:ext cx="977153" cy="58270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SSH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AD1C69C-938B-4454-BECC-3F7CF3AD091A}"/>
              </a:ext>
            </a:extLst>
          </p:cNvPr>
          <p:cNvSpPr/>
          <p:nvPr/>
        </p:nvSpPr>
        <p:spPr>
          <a:xfrm>
            <a:off x="5082987" y="4757010"/>
            <a:ext cx="977153" cy="58270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DHCP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366F01A1-D7B7-4088-AB26-129DFD802FA8}"/>
              </a:ext>
            </a:extLst>
          </p:cNvPr>
          <p:cNvSpPr/>
          <p:nvPr/>
        </p:nvSpPr>
        <p:spPr>
          <a:xfrm>
            <a:off x="7718623" y="4757010"/>
            <a:ext cx="977153" cy="58270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ARP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72FD27E9-6BC0-448D-B2E4-EAFD7944DCDC}"/>
              </a:ext>
            </a:extLst>
          </p:cNvPr>
          <p:cNvSpPr/>
          <p:nvPr/>
        </p:nvSpPr>
        <p:spPr>
          <a:xfrm>
            <a:off x="6400806" y="4748658"/>
            <a:ext cx="977153" cy="58270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UDP</a:t>
            </a:r>
          </a:p>
        </p:txBody>
      </p:sp>
    </p:spTree>
    <p:extLst>
      <p:ext uri="{BB962C8B-B14F-4D97-AF65-F5344CB8AC3E}">
        <p14:creationId xmlns:p14="http://schemas.microsoft.com/office/powerpoint/2010/main" val="2565678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3812" y="280194"/>
            <a:ext cx="9604375" cy="1049337"/>
          </a:xfrm>
        </p:spPr>
        <p:txBody>
          <a:bodyPr>
            <a:normAutofit/>
          </a:bodyPr>
          <a:lstStyle/>
          <a:p>
            <a:pPr algn="ctr" fontAlgn="base"/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Protocolo tcp/ip</a:t>
            </a:r>
            <a:endParaRPr lang="pt-BR" sz="1800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362" name="Picture 2" descr="Material Didático - IMD">
            <a:extLst>
              <a:ext uri="{FF2B5EF4-FFF2-40B4-BE49-F238E27FC236}">
                <a16:creationId xmlns:a16="http://schemas.microsoft.com/office/drawing/2014/main" id="{3C6E90EF-952F-4378-BEB9-472E0C241B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1" b="3489"/>
          <a:stretch/>
        </p:blipFill>
        <p:spPr bwMode="auto">
          <a:xfrm>
            <a:off x="199184" y="1457348"/>
            <a:ext cx="4381780" cy="3968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DBDF038-8B9E-48C8-AC57-7B3C2EEFE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541" y="1457348"/>
            <a:ext cx="7379549" cy="396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615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3812" y="280194"/>
            <a:ext cx="9604375" cy="1049337"/>
          </a:xfrm>
        </p:spPr>
        <p:txBody>
          <a:bodyPr>
            <a:normAutofit/>
          </a:bodyPr>
          <a:lstStyle/>
          <a:p>
            <a:pPr algn="ctr" fontAlgn="base"/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Protocolo </a:t>
            </a:r>
            <a:r>
              <a:rPr lang="pt-BR" dirty="0" err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</a:t>
            </a:r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dirty="0" err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udp</a:t>
            </a:r>
            <a:endParaRPr lang="pt-BR" sz="1800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364" name="Picture 4" descr="Entendendo TCP e UDP de Forma Simples">
            <a:extLst>
              <a:ext uri="{FF2B5EF4-FFF2-40B4-BE49-F238E27FC236}">
                <a16:creationId xmlns:a16="http://schemas.microsoft.com/office/drawing/2014/main" id="{FCC432E3-2D0B-4203-AD78-65A35284FC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"/>
          <a:stretch/>
        </p:blipFill>
        <p:spPr bwMode="auto">
          <a:xfrm>
            <a:off x="0" y="1364116"/>
            <a:ext cx="7402737" cy="4140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A99946B-1DF8-4E5E-B6D0-2F1F4D5F26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323"/>
          <a:stretch/>
        </p:blipFill>
        <p:spPr>
          <a:xfrm>
            <a:off x="7481890" y="971690"/>
            <a:ext cx="4710110" cy="491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406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3812" y="280194"/>
            <a:ext cx="9604375" cy="1049337"/>
          </a:xfrm>
        </p:spPr>
        <p:txBody>
          <a:bodyPr>
            <a:normAutofit/>
          </a:bodyPr>
          <a:lstStyle/>
          <a:p>
            <a:pPr algn="ctr" fontAlgn="base"/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Protocolo HTTP</a:t>
            </a:r>
            <a:endParaRPr lang="pt-BR" sz="1800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0D74ADA-2141-463F-B06B-AE163C076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025" y="1154186"/>
            <a:ext cx="8205950" cy="542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304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3812" y="280194"/>
            <a:ext cx="9604375" cy="1049337"/>
          </a:xfrm>
        </p:spPr>
        <p:txBody>
          <a:bodyPr>
            <a:normAutofit/>
          </a:bodyPr>
          <a:lstStyle/>
          <a:p>
            <a:pPr algn="ctr" fontAlgn="base"/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funcionam as portas</a:t>
            </a:r>
            <a:endParaRPr lang="pt-BR" sz="1800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57A4F63-61CC-4D22-9220-AFF442DE4B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7" t="13321" r="8892" b="7965"/>
          <a:stretch/>
        </p:blipFill>
        <p:spPr bwMode="auto">
          <a:xfrm>
            <a:off x="2263588" y="863331"/>
            <a:ext cx="7664822" cy="525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6984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Portas dos protocolos</a:t>
            </a:r>
            <a:endParaRPr lang="pt-BR" sz="1800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2A7AB4E-475F-4D3D-8166-0A5888D98C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508"/>
          <a:stretch/>
        </p:blipFill>
        <p:spPr>
          <a:xfrm>
            <a:off x="6508294" y="2256302"/>
            <a:ext cx="4546560" cy="313855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BD9D100-F9B9-44BE-BE6D-ADD8B4AA39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6" b="49491"/>
          <a:stretch/>
        </p:blipFill>
        <p:spPr>
          <a:xfrm>
            <a:off x="1451579" y="2256303"/>
            <a:ext cx="4546560" cy="313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259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que é o </a:t>
            </a:r>
            <a:r>
              <a:rPr lang="pt-BR" dirty="0" err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mqtt</a:t>
            </a:r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pt-BR" sz="1800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A3E8D6-D6E7-4EA1-B91D-9903332BC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9603274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1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What is MQTT?">
            <a:extLst>
              <a:ext uri="{FF2B5EF4-FFF2-40B4-BE49-F238E27FC236}">
                <a16:creationId xmlns:a16="http://schemas.microsoft.com/office/drawing/2014/main" id="{D8C9D0F8-F40B-4590-A34E-D75E86156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579" y="1853754"/>
            <a:ext cx="9603943" cy="464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6067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342420"/>
            <a:ext cx="9603275" cy="1049235"/>
          </a:xfrm>
        </p:spPr>
        <p:txBody>
          <a:bodyPr>
            <a:normAutofit/>
          </a:bodyPr>
          <a:lstStyle/>
          <a:p>
            <a:pPr algn="ctr" fontAlgn="base"/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que é o </a:t>
            </a:r>
            <a:r>
              <a:rPr lang="pt-BR" dirty="0" err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mqtt</a:t>
            </a:r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pt-BR" sz="1800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A3E8D6-D6E7-4EA1-B91D-9903332BC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9603274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1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2" name="Picture 2" descr="GitHub - nopnop2002/esp-idf-can2mqtt: CANbus to mqtt bridge using esp32">
            <a:extLst>
              <a:ext uri="{FF2B5EF4-FFF2-40B4-BE49-F238E27FC236}">
                <a16:creationId xmlns:a16="http://schemas.microsoft.com/office/drawing/2014/main" id="{C09E81F9-1FD0-4220-956F-5E33607580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13"/>
          <a:stretch/>
        </p:blipFill>
        <p:spPr bwMode="auto">
          <a:xfrm>
            <a:off x="638174" y="965311"/>
            <a:ext cx="10915650" cy="5659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5706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Publicar em </a:t>
            </a:r>
            <a:r>
              <a:rPr lang="pt-BR" dirty="0" err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endParaRPr lang="pt-BR" sz="1800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715AF52-8350-4D4D-B85A-C19D8C9906B2}"/>
              </a:ext>
            </a:extLst>
          </p:cNvPr>
          <p:cNvSpPr txBox="1"/>
          <p:nvPr/>
        </p:nvSpPr>
        <p:spPr>
          <a:xfrm>
            <a:off x="1451579" y="2228671"/>
            <a:ext cx="610048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"aluno": "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joao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",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"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temp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": 27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Isso facilita evoluir o projeto: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Dashboards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Node-RED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AWS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Azure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Hub</a:t>
            </a:r>
          </a:p>
        </p:txBody>
      </p:sp>
      <p:pic>
        <p:nvPicPr>
          <p:cNvPr id="11266" name="Picture 2" descr="How to build your own custom MQTT dashboard?">
            <a:extLst>
              <a:ext uri="{FF2B5EF4-FFF2-40B4-BE49-F238E27FC236}">
                <a16:creationId xmlns:a16="http://schemas.microsoft.com/office/drawing/2014/main" id="{A86886C2-0284-4B8F-82A5-9FAC5D74F6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1" t="8105" r="24322" b="9840"/>
          <a:stretch/>
        </p:blipFill>
        <p:spPr bwMode="auto">
          <a:xfrm>
            <a:off x="5411755" y="1856958"/>
            <a:ext cx="6780245" cy="500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7504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Funcionamento </a:t>
            </a:r>
            <a:r>
              <a:rPr lang="pt-BR" dirty="0" err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endParaRPr lang="pt-BR" sz="1800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PostgresSQL JSON types – PET Sistemas de Informação">
            <a:extLst>
              <a:ext uri="{FF2B5EF4-FFF2-40B4-BE49-F238E27FC236}">
                <a16:creationId xmlns:a16="http://schemas.microsoft.com/office/drawing/2014/main" id="{E69386E3-9887-41CD-B7AA-8A2ED65C3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579" y="1915162"/>
            <a:ext cx="9603275" cy="413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426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fontAlgn="base">
              <a:lnSpc>
                <a:spcPct val="100000"/>
              </a:lnSpc>
            </a:pPr>
            <a:r>
              <a:rPr lang="pt-BR" dirty="0" err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Exercicio</a:t>
            </a:r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b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800" dirty="0" err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dontpad</a:t>
            </a:r>
            <a:r>
              <a:rPr lang="pt-BR" sz="280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800" cap="none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https://dontpad.com/</a:t>
            </a:r>
            <a:r>
              <a:rPr lang="pt-BR" sz="2800" b="1" cap="none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aula-json-senai-don</a:t>
            </a:r>
            <a:endParaRPr lang="pt-BR" sz="1800" b="1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B439BC8B-490E-4E77-8BB1-A6AB75F80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3"/>
            <a:ext cx="9603274" cy="951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Crie um JSON de uma biblioteca.</a:t>
            </a:r>
          </a:p>
          <a:p>
            <a:pPr marL="0" indent="0">
              <a:buNone/>
            </a:pP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A biblioteca de conter informações sobre livros e autores.</a:t>
            </a:r>
          </a:p>
          <a:p>
            <a:pPr marL="0" indent="0">
              <a:buNone/>
            </a:pPr>
            <a:endParaRPr lang="pt-BR" sz="1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33F0A51D-302C-42F7-9D21-0EEE12BCD92C}"/>
              </a:ext>
            </a:extLst>
          </p:cNvPr>
          <p:cNvSpPr txBox="1">
            <a:spLocks/>
          </p:cNvSpPr>
          <p:nvPr/>
        </p:nvSpPr>
        <p:spPr>
          <a:xfrm>
            <a:off x="1451579" y="3092825"/>
            <a:ext cx="4644421" cy="28328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Autores:</a:t>
            </a:r>
          </a:p>
          <a:p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</a:p>
          <a:p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nome</a:t>
            </a:r>
          </a:p>
          <a:p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ano_nascimento</a:t>
            </a: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pais</a:t>
            </a:r>
          </a:p>
          <a:p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livros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52AB1818-71EF-461F-9472-FCDDDEB9E9A6}"/>
              </a:ext>
            </a:extLst>
          </p:cNvPr>
          <p:cNvSpPr txBox="1">
            <a:spLocks/>
          </p:cNvSpPr>
          <p:nvPr/>
        </p:nvSpPr>
        <p:spPr>
          <a:xfrm>
            <a:off x="6095999" y="3092825"/>
            <a:ext cx="4644421" cy="28328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Livros:</a:t>
            </a:r>
          </a:p>
          <a:p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</a:p>
          <a:p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titulo</a:t>
            </a:r>
          </a:p>
          <a:p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ano_lancamento</a:t>
            </a: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genero</a:t>
            </a: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517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Broker Público</a:t>
            </a:r>
            <a:endParaRPr lang="pt-BR" sz="1800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A3E8D6-D6E7-4EA1-B91D-9903332BC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9603274" cy="34506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pt-BR" sz="1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Host: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broker.hivemq.com</a:t>
            </a:r>
            <a:b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Port: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8884</a:t>
            </a:r>
            <a:b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Client ID: qualquer_nome</a:t>
            </a:r>
            <a:b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Username: (vazio)</a:t>
            </a:r>
            <a:b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Password: (vazio)</a:t>
            </a:r>
          </a:p>
          <a:p>
            <a:pPr marL="0" indent="0">
              <a:buNone/>
            </a:pP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Tópico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 padrão: </a:t>
            </a:r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senai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/aula/&lt;nome&gt;</a:t>
            </a: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Exemplo: </a:t>
            </a:r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senai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/aula/</a:t>
            </a:r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don</a:t>
            </a:r>
            <a:endParaRPr lang="pt-BR" sz="1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AFC0B43-5670-4D30-94BF-D05F70C043E2}"/>
              </a:ext>
            </a:extLst>
          </p:cNvPr>
          <p:cNvSpPr/>
          <p:nvPr/>
        </p:nvSpPr>
        <p:spPr>
          <a:xfrm>
            <a:off x="8894360" y="2779058"/>
            <a:ext cx="2160494" cy="824753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HiveMQ</a:t>
            </a:r>
          </a:p>
        </p:txBody>
      </p:sp>
      <p:pic>
        <p:nvPicPr>
          <p:cNvPr id="13314" name="Picture 2" descr="HiveMQ">
            <a:extLst>
              <a:ext uri="{FF2B5EF4-FFF2-40B4-BE49-F238E27FC236}">
                <a16:creationId xmlns:a16="http://schemas.microsoft.com/office/drawing/2014/main" id="{32502662-5A84-4BB8-9ABC-9F7E7A63C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830" y="170729"/>
            <a:ext cx="1645024" cy="1645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62B581D-126C-421F-8D6A-14A45106FD92}"/>
              </a:ext>
            </a:extLst>
          </p:cNvPr>
          <p:cNvSpPr/>
          <p:nvPr/>
        </p:nvSpPr>
        <p:spPr>
          <a:xfrm>
            <a:off x="8894360" y="3803790"/>
            <a:ext cx="2160494" cy="824753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Mosquitto</a:t>
            </a:r>
          </a:p>
        </p:txBody>
      </p:sp>
    </p:spTree>
    <p:extLst>
      <p:ext uri="{BB962C8B-B14F-4D97-AF65-F5344CB8AC3E}">
        <p14:creationId xmlns:p14="http://schemas.microsoft.com/office/powerpoint/2010/main" val="1710119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Broker Público</a:t>
            </a:r>
            <a:endParaRPr lang="pt-BR" sz="1800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314" name="Picture 2" descr="HiveMQ">
            <a:extLst>
              <a:ext uri="{FF2B5EF4-FFF2-40B4-BE49-F238E27FC236}">
                <a16:creationId xmlns:a16="http://schemas.microsoft.com/office/drawing/2014/main" id="{32502662-5A84-4BB8-9ABC-9F7E7A63C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830" y="170729"/>
            <a:ext cx="1645024" cy="1645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9A3BBF1E-CF3A-4D89-A673-21A515EA7D17}"/>
              </a:ext>
            </a:extLst>
          </p:cNvPr>
          <p:cNvSpPr txBox="1">
            <a:spLocks/>
          </p:cNvSpPr>
          <p:nvPr/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Quality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 Service): Garantia de entregada mensagem entre Publisher e </a:t>
            </a:r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Subscriber</a:t>
            </a: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ela 9">
            <a:extLst>
              <a:ext uri="{FF2B5EF4-FFF2-40B4-BE49-F238E27FC236}">
                <a16:creationId xmlns:a16="http://schemas.microsoft.com/office/drawing/2014/main" id="{1B03CEDB-04BB-4880-9E46-D737A6C40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12210"/>
              </p:ext>
            </p:extLst>
          </p:nvPr>
        </p:nvGraphicFramePr>
        <p:xfrm>
          <a:off x="994727" y="2652599"/>
          <a:ext cx="10516973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91654">
                  <a:extLst>
                    <a:ext uri="{9D8B030D-6E8A-4147-A177-3AD203B41FA5}">
                      <a16:colId xmlns:a16="http://schemas.microsoft.com/office/drawing/2014/main" val="2102806781"/>
                    </a:ext>
                  </a:extLst>
                </a:gridCol>
                <a:gridCol w="2420471">
                  <a:extLst>
                    <a:ext uri="{9D8B030D-6E8A-4147-A177-3AD203B41FA5}">
                      <a16:colId xmlns:a16="http://schemas.microsoft.com/office/drawing/2014/main" val="2981253371"/>
                    </a:ext>
                  </a:extLst>
                </a:gridCol>
                <a:gridCol w="4437529">
                  <a:extLst>
                    <a:ext uri="{9D8B030D-6E8A-4147-A177-3AD203B41FA5}">
                      <a16:colId xmlns:a16="http://schemas.microsoft.com/office/drawing/2014/main" val="704914040"/>
                    </a:ext>
                  </a:extLst>
                </a:gridCol>
                <a:gridCol w="2967319">
                  <a:extLst>
                    <a:ext uri="{9D8B030D-6E8A-4147-A177-3AD203B41FA5}">
                      <a16:colId xmlns:a16="http://schemas.microsoft.com/office/drawing/2014/main" val="29738208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QoS</a:t>
                      </a:r>
                      <a:endParaRPr lang="pt-BR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Como funciona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Garantia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129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máximo uma vez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mensagem é enviada uma vez e pronto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Pode perder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91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Pelo menos uma vez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 broker exige ACK do 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Pode duplicar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752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Exatamente 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Usa </a:t>
                      </a:r>
                      <a:r>
                        <a:rPr lang="pt-BR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handshake</a:t>
                      </a:r>
                      <a:r>
                        <a:rPr lang="pt-B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4 etapas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Entrega exatamente 1 vez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9422726"/>
                  </a:ext>
                </a:extLst>
              </a:tr>
            </a:tbl>
          </a:graphicData>
        </a:graphic>
      </p:graphicFrame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826835B8-B6C0-454B-94F6-D319CE2C6640}"/>
              </a:ext>
            </a:extLst>
          </p:cNvPr>
          <p:cNvSpPr/>
          <p:nvPr/>
        </p:nvSpPr>
        <p:spPr>
          <a:xfrm>
            <a:off x="1000435" y="4602497"/>
            <a:ext cx="4635774" cy="510988"/>
          </a:xfrm>
          <a:prstGeom prst="roundRect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1 = sensores frequentes (temperatura)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1C1DC3E-83FC-42A5-9CC3-406E91B92154}"/>
              </a:ext>
            </a:extLst>
          </p:cNvPr>
          <p:cNvSpPr/>
          <p:nvPr/>
        </p:nvSpPr>
        <p:spPr>
          <a:xfrm>
            <a:off x="6875929" y="4564030"/>
            <a:ext cx="4635773" cy="510988"/>
          </a:xfrm>
          <a:prstGeom prst="roundRect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2 = comandos importantes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5800230-F49E-4E78-B8E9-B4C778228BD2}"/>
              </a:ext>
            </a:extLst>
          </p:cNvPr>
          <p:cNvSpPr/>
          <p:nvPr/>
        </p:nvSpPr>
        <p:spPr>
          <a:xfrm>
            <a:off x="3935328" y="5276841"/>
            <a:ext cx="4635773" cy="510988"/>
          </a:xfrm>
          <a:prstGeom prst="roundRect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3 = raramente usado</a:t>
            </a:r>
          </a:p>
        </p:txBody>
      </p:sp>
    </p:spTree>
    <p:extLst>
      <p:ext uri="{BB962C8B-B14F-4D97-AF65-F5344CB8AC3E}">
        <p14:creationId xmlns:p14="http://schemas.microsoft.com/office/powerpoint/2010/main" val="2455565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6777" y="2996733"/>
            <a:ext cx="5749553" cy="584667"/>
          </a:xfrm>
        </p:spPr>
        <p:txBody>
          <a:bodyPr>
            <a:normAutofit/>
          </a:bodyPr>
          <a:lstStyle/>
          <a:p>
            <a:pPr fontAlgn="base"/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Mensageria MQTT</a:t>
            </a:r>
            <a:endParaRPr lang="pt-BR" sz="1800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94" name="Picture 2" descr="Protocolo MQTT - Redes 1">
            <a:extLst>
              <a:ext uri="{FF2B5EF4-FFF2-40B4-BE49-F238E27FC236}">
                <a16:creationId xmlns:a16="http://schemas.microsoft.com/office/drawing/2014/main" id="{23B007CD-1A63-4BB8-830A-1454F6379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025" y="259977"/>
            <a:ext cx="5330049" cy="57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8986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pt-BR" dirty="0" err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Wildcard</a:t>
            </a:r>
            <a:endParaRPr lang="pt-BR" sz="1800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338" name="Picture 2" descr="MQTT Install As Home Assistant Add-On Or Self Hosted!">
            <a:extLst>
              <a:ext uri="{FF2B5EF4-FFF2-40B4-BE49-F238E27FC236}">
                <a16:creationId xmlns:a16="http://schemas.microsoft.com/office/drawing/2014/main" id="{BF16AB13-D5E8-417A-BC3C-49346E9F97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8" t="40846" r="5735" b="11239"/>
          <a:stretch/>
        </p:blipFill>
        <p:spPr bwMode="auto">
          <a:xfrm>
            <a:off x="1451579" y="1991569"/>
            <a:ext cx="8050307" cy="145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MQTT Install As Home Assistant Add-On Or Self Hosted!">
            <a:extLst>
              <a:ext uri="{FF2B5EF4-FFF2-40B4-BE49-F238E27FC236}">
                <a16:creationId xmlns:a16="http://schemas.microsoft.com/office/drawing/2014/main" id="{6C43ECD7-4252-450B-93BE-11BE3A8CD9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86" t="33789" r="5882" b="6652"/>
          <a:stretch/>
        </p:blipFill>
        <p:spPr bwMode="auto">
          <a:xfrm>
            <a:off x="1451579" y="3843147"/>
            <a:ext cx="8050307" cy="1999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9120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Exercício 1</a:t>
            </a:r>
            <a:endParaRPr lang="pt-BR" sz="1800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8C33A94-5AC0-47CB-94AF-784487ECF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9603274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Criar 3 </a:t>
            </a:r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publishers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fabrica 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linha1 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temp</a:t>
            </a:r>
            <a:b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fabrica 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linha2 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temp</a:t>
            </a:r>
            <a:b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fabrica 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linha3 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temp</a:t>
            </a: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Crie um </a:t>
            </a:r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Wildcard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fabrica / + / </a:t>
            </a:r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temp</a:t>
            </a: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sz="1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7D7082-2D56-4664-B242-83D78F77CA77}"/>
              </a:ext>
            </a:extLst>
          </p:cNvPr>
          <p:cNvSpPr txBox="1"/>
          <p:nvPr/>
        </p:nvSpPr>
        <p:spPr>
          <a:xfrm>
            <a:off x="4954372" y="3641989"/>
            <a:ext cx="6100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Por que isso é útil em uma fábrica com centenas de sensores?</a:t>
            </a:r>
          </a:p>
        </p:txBody>
      </p:sp>
    </p:spTree>
    <p:extLst>
      <p:ext uri="{BB962C8B-B14F-4D97-AF65-F5344CB8AC3E}">
        <p14:creationId xmlns:p14="http://schemas.microsoft.com/office/powerpoint/2010/main" val="1767065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Exercício 2</a:t>
            </a:r>
            <a:endParaRPr lang="pt-BR" sz="1800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8C33A94-5AC0-47CB-94AF-784487ECF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3213183"/>
            <a:ext cx="9603274" cy="4316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Crie um sistema de monitoramento que escuta todas as informações da fábrica:</a:t>
            </a:r>
          </a:p>
        </p:txBody>
      </p:sp>
    </p:spTree>
    <p:extLst>
      <p:ext uri="{BB962C8B-B14F-4D97-AF65-F5344CB8AC3E}">
        <p14:creationId xmlns:p14="http://schemas.microsoft.com/office/powerpoint/2010/main" val="21310428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Fluxo real</a:t>
            </a:r>
            <a:endParaRPr lang="pt-BR" sz="1800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EB4D746-5104-475C-AB3A-7AB7DFD11DC3}"/>
              </a:ext>
            </a:extLst>
          </p:cNvPr>
          <p:cNvGrpSpPr/>
          <p:nvPr/>
        </p:nvGrpSpPr>
        <p:grpSpPr>
          <a:xfrm>
            <a:off x="6095998" y="0"/>
            <a:ext cx="6096001" cy="3588988"/>
            <a:chOff x="638175" y="638175"/>
            <a:chExt cx="10915650" cy="558165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B29BBAB2-4894-4AB8-9172-138DF714E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8175" y="638175"/>
              <a:ext cx="10915650" cy="5581650"/>
            </a:xfrm>
            <a:prstGeom prst="rect">
              <a:avLst/>
            </a:prstGeom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5516DD1D-FA36-42F5-B03C-1D4E9888B91B}"/>
                </a:ext>
              </a:extLst>
            </p:cNvPr>
            <p:cNvSpPr/>
            <p:nvPr/>
          </p:nvSpPr>
          <p:spPr>
            <a:xfrm>
              <a:off x="638175" y="6053481"/>
              <a:ext cx="2150745" cy="166344"/>
            </a:xfrm>
            <a:prstGeom prst="rect">
              <a:avLst/>
            </a:prstGeom>
            <a:solidFill>
              <a:srgbClr val="0017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032" name="Picture 8" descr="Realtime Database Firebase – ESP32 – Tutorials PICAIO">
            <a:extLst>
              <a:ext uri="{FF2B5EF4-FFF2-40B4-BE49-F238E27FC236}">
                <a16:creationId xmlns:a16="http://schemas.microsoft.com/office/drawing/2014/main" id="{53F93343-218B-4AF4-9061-F8289FC939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2" r="2962"/>
          <a:stretch/>
        </p:blipFill>
        <p:spPr bwMode="auto">
          <a:xfrm>
            <a:off x="-1" y="2909340"/>
            <a:ext cx="6095999" cy="3948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08D91AF0-4C5D-4CB4-87C3-C78B7E3EA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3216" y="4293898"/>
            <a:ext cx="5674660" cy="9233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 – MQTT – Broker – Node-</a:t>
            </a:r>
            <a:r>
              <a:rPr lang="pt-BR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Red</a:t>
            </a:r>
            <a:r>
              <a:rPr lang="pt-BR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Dashboard</a:t>
            </a:r>
          </a:p>
          <a:p>
            <a:pPr marL="0" indent="0">
              <a:buNone/>
            </a:pP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ESP – </a:t>
            </a:r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Firebase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 – Aplicação Software</a:t>
            </a:r>
            <a:endParaRPr lang="pt-BR" sz="1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075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42427" y="2204336"/>
            <a:ext cx="4029075" cy="1857655"/>
          </a:xfrm>
        </p:spPr>
        <p:txBody>
          <a:bodyPr>
            <a:normAutofit/>
          </a:bodyPr>
          <a:lstStyle/>
          <a:p>
            <a:pPr fontAlgn="base"/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Código </a:t>
            </a:r>
            <a:r>
              <a:rPr lang="pt-BR" dirty="0" err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wifi</a:t>
            </a:r>
            <a:b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Esp32</a:t>
            </a:r>
            <a:endParaRPr lang="pt-BR" sz="1800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86A7A3F-9CE6-486C-87D4-8ED8D7765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815" y="330853"/>
            <a:ext cx="4382997" cy="619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9847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270B267-C9A7-4265-85CC-C3E3A68A96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8601"/>
          <a:stretch/>
        </p:blipFill>
        <p:spPr>
          <a:xfrm>
            <a:off x="4801825" y="1872781"/>
            <a:ext cx="6795983" cy="2610411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86F6BF05-05F8-45F7-B2F1-9BB7FC61CF72}"/>
              </a:ext>
            </a:extLst>
          </p:cNvPr>
          <p:cNvSpPr txBox="1">
            <a:spLocks/>
          </p:cNvSpPr>
          <p:nvPr/>
        </p:nvSpPr>
        <p:spPr>
          <a:xfrm>
            <a:off x="289392" y="2249160"/>
            <a:ext cx="4029075" cy="18576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pt-BR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Código mqtt</a:t>
            </a:r>
            <a:br>
              <a:rPr lang="pt-BR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Esp32</a:t>
            </a:r>
            <a:endParaRPr lang="pt-BR" sz="180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06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C4C1-71A1-467F-B39E-6CABC5BA46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89392" y="2249160"/>
            <a:ext cx="4029075" cy="1857655"/>
          </a:xfrm>
        </p:spPr>
        <p:txBody>
          <a:bodyPr>
            <a:normAutofit/>
          </a:bodyPr>
          <a:lstStyle/>
          <a:p>
            <a:pPr fontAlgn="base"/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Código </a:t>
            </a:r>
            <a:r>
              <a:rPr lang="pt-BR" dirty="0" err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mqtt</a:t>
            </a:r>
            <a:b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Esp32</a:t>
            </a:r>
            <a:endParaRPr lang="pt-BR" sz="1800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4BAB0E9-7CA8-4FF4-A5D6-D2B4D3F60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852" y="497198"/>
            <a:ext cx="4736971" cy="586360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34DD747-77EA-4F86-B6D6-C9E470FE6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823" y="2114270"/>
            <a:ext cx="3806177" cy="262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3237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C260DAD-4ED9-4B08-86C5-C14405EF9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225" y="294468"/>
            <a:ext cx="6507884" cy="6269063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8C5E5EF2-F3CE-484D-9260-63D25E6A446F}"/>
              </a:ext>
            </a:extLst>
          </p:cNvPr>
          <p:cNvSpPr txBox="1">
            <a:spLocks/>
          </p:cNvSpPr>
          <p:nvPr/>
        </p:nvSpPr>
        <p:spPr>
          <a:xfrm>
            <a:off x="289392" y="2249160"/>
            <a:ext cx="4029075" cy="18576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pt-BR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Código mqtt</a:t>
            </a:r>
            <a:br>
              <a:rPr lang="pt-BR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Esp32</a:t>
            </a:r>
            <a:endParaRPr lang="pt-BR" sz="180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8684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A1FB7574-E902-47B4-B09C-9910A51F9D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105"/>
          <a:stretch/>
        </p:blipFill>
        <p:spPr>
          <a:xfrm>
            <a:off x="3983730" y="1124579"/>
            <a:ext cx="7779609" cy="4106815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8C5E5EF2-F3CE-484D-9260-63D25E6A446F}"/>
              </a:ext>
            </a:extLst>
          </p:cNvPr>
          <p:cNvSpPr txBox="1">
            <a:spLocks/>
          </p:cNvSpPr>
          <p:nvPr/>
        </p:nvSpPr>
        <p:spPr>
          <a:xfrm>
            <a:off x="289392" y="2249160"/>
            <a:ext cx="4029075" cy="18576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pt-BR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Código mqtt</a:t>
            </a:r>
            <a:br>
              <a:rPr lang="pt-BR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Esp32</a:t>
            </a:r>
            <a:endParaRPr lang="pt-BR" sz="180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5965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8C5E5EF2-F3CE-484D-9260-63D25E6A446F}"/>
              </a:ext>
            </a:extLst>
          </p:cNvPr>
          <p:cNvSpPr txBox="1">
            <a:spLocks/>
          </p:cNvSpPr>
          <p:nvPr/>
        </p:nvSpPr>
        <p:spPr>
          <a:xfrm>
            <a:off x="289392" y="2249160"/>
            <a:ext cx="4029075" cy="18576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Código </a:t>
            </a:r>
            <a:r>
              <a:rPr lang="pt-BR" dirty="0" err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mqtt</a:t>
            </a:r>
            <a:b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Publicar</a:t>
            </a:r>
            <a:endParaRPr lang="pt-BR" sz="180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1BD6D30-5F09-41AC-82B8-57570F56C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499" y="148059"/>
            <a:ext cx="4028260" cy="158213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2919E31-B049-42DA-A09B-333B3634C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625" y="0"/>
            <a:ext cx="5286375" cy="29337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E97C1F7-41A4-43A2-AB42-6D669AE4B6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87" b="-1"/>
          <a:stretch/>
        </p:blipFill>
        <p:spPr>
          <a:xfrm>
            <a:off x="6905625" y="3177987"/>
            <a:ext cx="4248775" cy="3545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788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8C5E5EF2-F3CE-484D-9260-63D25E6A446F}"/>
              </a:ext>
            </a:extLst>
          </p:cNvPr>
          <p:cNvSpPr txBox="1">
            <a:spLocks/>
          </p:cNvSpPr>
          <p:nvPr/>
        </p:nvSpPr>
        <p:spPr>
          <a:xfrm>
            <a:off x="4081462" y="124525"/>
            <a:ext cx="4029075" cy="18576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 fontAlgn="base"/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Relembrando código </a:t>
            </a:r>
            <a:r>
              <a:rPr lang="pt-BR" dirty="0" err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dht</a:t>
            </a:r>
            <a:endParaRPr lang="pt-BR" sz="180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EDE0C17-D1A5-4F7C-BED8-477EA7279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2031" y="8956"/>
            <a:ext cx="1999969" cy="344721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E9692D9-8C06-4CCF-9F7A-D04CA27AA0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75" b="30951"/>
          <a:stretch/>
        </p:blipFill>
        <p:spPr>
          <a:xfrm>
            <a:off x="209267" y="1058570"/>
            <a:ext cx="4845985" cy="567490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DA13FB8-CC54-4EEB-9FA5-6DD9A4C833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9049"/>
          <a:stretch/>
        </p:blipFill>
        <p:spPr>
          <a:xfrm>
            <a:off x="6095999" y="3627205"/>
            <a:ext cx="5858948" cy="312868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5A188B0-B182-4426-B4EB-07D1A8FFDB8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204" r="11776"/>
          <a:stretch/>
        </p:blipFill>
        <p:spPr>
          <a:xfrm>
            <a:off x="7136746" y="1506770"/>
            <a:ext cx="2088776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528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8C5E5EF2-F3CE-484D-9260-63D25E6A446F}"/>
              </a:ext>
            </a:extLst>
          </p:cNvPr>
          <p:cNvSpPr txBox="1">
            <a:spLocks/>
          </p:cNvSpPr>
          <p:nvPr/>
        </p:nvSpPr>
        <p:spPr>
          <a:xfrm>
            <a:off x="4081462" y="124524"/>
            <a:ext cx="4029075" cy="10533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 fontAlgn="base"/>
            <a:r>
              <a:rPr lang="pt-BR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Convertendo para </a:t>
            </a:r>
            <a:r>
              <a:rPr lang="pt-BR" dirty="0" err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endParaRPr lang="pt-BR" sz="180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0125E2C-1562-46D2-A5DE-ACC8D6253161}"/>
              </a:ext>
            </a:extLst>
          </p:cNvPr>
          <p:cNvGrpSpPr/>
          <p:nvPr/>
        </p:nvGrpSpPr>
        <p:grpSpPr>
          <a:xfrm>
            <a:off x="721797" y="1900518"/>
            <a:ext cx="3606896" cy="2521877"/>
            <a:chOff x="1682281" y="1869520"/>
            <a:chExt cx="2905125" cy="1966814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CEADFBFC-1992-4049-AD53-0C2DAB502A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890"/>
            <a:stretch/>
          </p:blipFill>
          <p:spPr>
            <a:xfrm>
              <a:off x="1682281" y="2163576"/>
              <a:ext cx="2905125" cy="1672758"/>
            </a:xfrm>
            <a:prstGeom prst="rect">
              <a:avLst/>
            </a:prstGeom>
          </p:spPr>
        </p:pic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4DED4F56-958B-4658-81EB-875030C992D8}"/>
                </a:ext>
              </a:extLst>
            </p:cNvPr>
            <p:cNvSpPr txBox="1"/>
            <p:nvPr/>
          </p:nvSpPr>
          <p:spPr>
            <a:xfrm>
              <a:off x="2586407" y="1869520"/>
              <a:ext cx="1096872" cy="2880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latin typeface="Arial" panose="020B0604020202020204" pitchFamily="34" charset="0"/>
                  <a:cs typeface="Arial" panose="020B0604020202020204" pitchFamily="34" charset="0"/>
                </a:rPr>
                <a:t>Para JSON</a:t>
              </a: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5ED2B9E3-DC35-4DAF-B2B1-41077252F235}"/>
              </a:ext>
            </a:extLst>
          </p:cNvPr>
          <p:cNvGrpSpPr/>
          <p:nvPr/>
        </p:nvGrpSpPr>
        <p:grpSpPr>
          <a:xfrm>
            <a:off x="6232042" y="1900518"/>
            <a:ext cx="4440380" cy="915221"/>
            <a:chOff x="6794127" y="3059668"/>
            <a:chExt cx="4440380" cy="915221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5FD74F09-0CB6-4C0B-A05D-472DC8042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4127" y="3388659"/>
              <a:ext cx="4440380" cy="586230"/>
            </a:xfrm>
            <a:prstGeom prst="rect">
              <a:avLst/>
            </a:prstGeom>
          </p:spPr>
        </p:pic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AA0A4F5-582F-4235-B154-5BE61C988E79}"/>
                </a:ext>
              </a:extLst>
            </p:cNvPr>
            <p:cNvSpPr txBox="1"/>
            <p:nvPr/>
          </p:nvSpPr>
          <p:spPr>
            <a:xfrm>
              <a:off x="8402611" y="3059668"/>
              <a:ext cx="1223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Arial" panose="020B0604020202020204" pitchFamily="34" charset="0"/>
                  <a:cs typeface="Arial" panose="020B0604020202020204" pitchFamily="34" charset="0"/>
                </a:rPr>
                <a:t>Resultado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9E5E508C-701D-444A-873B-61A00BAF75F4}"/>
              </a:ext>
            </a:extLst>
          </p:cNvPr>
          <p:cNvGrpSpPr/>
          <p:nvPr/>
        </p:nvGrpSpPr>
        <p:grpSpPr>
          <a:xfrm>
            <a:off x="5098116" y="3396682"/>
            <a:ext cx="6708232" cy="1025713"/>
            <a:chOff x="2614892" y="4478616"/>
            <a:chExt cx="6708232" cy="1025713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A79907DF-D29A-43F3-AFC4-030856D0D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14892" y="4848927"/>
              <a:ext cx="6708232" cy="655402"/>
            </a:xfrm>
            <a:prstGeom prst="rect">
              <a:avLst/>
            </a:prstGeom>
          </p:spPr>
        </p:pic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780B2D62-392A-4E65-B581-6D5493762550}"/>
                </a:ext>
              </a:extLst>
            </p:cNvPr>
            <p:cNvSpPr txBox="1"/>
            <p:nvPr/>
          </p:nvSpPr>
          <p:spPr>
            <a:xfrm>
              <a:off x="5306006" y="4478616"/>
              <a:ext cx="1326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Arial" panose="020B0604020202020204" pitchFamily="34" charset="0"/>
                  <a:cs typeface="Arial" panose="020B0604020202020204" pitchFamily="34" charset="0"/>
                </a:rPr>
                <a:t>Publicando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72628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8A1497-5511-41EC-9174-65E1B829F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5ABA27-DCDC-429B-88C8-1A454441C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Com base na:</a:t>
            </a:r>
          </a:p>
          <a:p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Publicação MQTT</a:t>
            </a:r>
          </a:p>
          <a:p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Leitura DHT22</a:t>
            </a:r>
          </a:p>
          <a:p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Conversão JSON</a:t>
            </a:r>
          </a:p>
          <a:p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Junte todos os conceitos, e 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leia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 a temperatura e a humidade do sensor, e 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publique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 através do MQTT utilizando o 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7624915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{42C32FED-B908-4D87-913A-15179F7917AF}TFc986dd65-aaf0-4d5c-bef9-9c391ee05f7bafc08c9a-905ad536e62c</Template>
  <TotalTime>1449</TotalTime>
  <Words>428</Words>
  <Application>Microsoft Office PowerPoint</Application>
  <PresentationFormat>Widescreen</PresentationFormat>
  <Paragraphs>110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5" baseType="lpstr">
      <vt:lpstr>Arial</vt:lpstr>
      <vt:lpstr>Gill Sans MT</vt:lpstr>
      <vt:lpstr>Google Sans</vt:lpstr>
      <vt:lpstr>Galeria</vt:lpstr>
      <vt:lpstr>MQTT Message Queuing Telemetry Transport</vt:lpstr>
      <vt:lpstr>Cenários packet tracer</vt:lpstr>
      <vt:lpstr>Cenários packet tracer</vt:lpstr>
      <vt:lpstr>Cenários packet tracer</vt:lpstr>
      <vt:lpstr>Protocolos conhecidos</vt:lpstr>
      <vt:lpstr>Protocolo tcp/ip</vt:lpstr>
      <vt:lpstr>Protocolo tcp e udp</vt:lpstr>
      <vt:lpstr>Protocolo HTTP</vt:lpstr>
      <vt:lpstr>Como funcionam as portas</vt:lpstr>
      <vt:lpstr>Portas dos protocolos</vt:lpstr>
      <vt:lpstr>O que é o mqtt?</vt:lpstr>
      <vt:lpstr>O que é o mqtt?</vt:lpstr>
      <vt:lpstr>Publicar em json</vt:lpstr>
      <vt:lpstr>Funcionamento json</vt:lpstr>
      <vt:lpstr>Exercicio json dontpad: https://dontpad.com/aula-json-senai-don</vt:lpstr>
      <vt:lpstr>Broker Público</vt:lpstr>
      <vt:lpstr>Broker Público</vt:lpstr>
      <vt:lpstr>Mensageria MQTT</vt:lpstr>
      <vt:lpstr>Wildcard</vt:lpstr>
      <vt:lpstr>Exercício 1</vt:lpstr>
      <vt:lpstr>Exercício 2</vt:lpstr>
      <vt:lpstr>Fluxo real</vt:lpstr>
      <vt:lpstr>Código wifi  Esp32</vt:lpstr>
      <vt:lpstr>Apresentação do PowerPoint</vt:lpstr>
      <vt:lpstr>Código mqtt  Esp32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Exercício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Conceitos em comunicação entre dispositivos</dc:title>
  <dc:creator>Donathan Ramalho Goncalves</dc:creator>
  <cp:lastModifiedBy>Donathan Ramalho Gonçalves</cp:lastModifiedBy>
  <cp:revision>74</cp:revision>
  <dcterms:created xsi:type="dcterms:W3CDTF">2026-02-26T17:52:40Z</dcterms:created>
  <dcterms:modified xsi:type="dcterms:W3CDTF">2026-03-11T13:49:54Z</dcterms:modified>
</cp:coreProperties>
</file>